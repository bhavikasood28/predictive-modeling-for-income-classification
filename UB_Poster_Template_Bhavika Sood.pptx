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374904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18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38"/>
    <p:restoredTop sz="94655"/>
  </p:normalViewPr>
  <p:slideViewPr>
    <p:cSldViewPr snapToGrid="0" snapToObjects="1">
      <p:cViewPr>
        <p:scale>
          <a:sx n="26" d="100"/>
          <a:sy n="26" d="100"/>
        </p:scale>
        <p:origin x="1784" y="328"/>
      </p:cViewPr>
      <p:guideLst>
        <p:guide orient="horz" pos="10368"/>
        <p:guide pos="118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ckground Image">
    <p:spTree>
      <p:nvGrpSpPr>
        <p:cNvPr id="1" name=""/>
        <p:cNvGrpSpPr/>
        <p:nvPr/>
      </p:nvGrpSpPr>
      <p:grpSpPr>
        <a:xfrm>
          <a:off x="0" y="0"/>
          <a:ext cx="0" cy="0"/>
          <a:chOff x="0" y="0"/>
          <a:chExt cx="0" cy="0"/>
        </a:xfrm>
      </p:grpSpPr>
      <p:cxnSp>
        <p:nvCxnSpPr>
          <p:cNvPr id="8" name="Straight Connector 7"/>
          <p:cNvCxnSpPr/>
          <p:nvPr userDrawn="1"/>
        </p:nvCxnSpPr>
        <p:spPr bwMode="auto">
          <a:xfrm flipH="1">
            <a:off x="9540239" y="6431836"/>
            <a:ext cx="0" cy="23316644"/>
          </a:xfrm>
          <a:prstGeom prst="line">
            <a:avLst/>
          </a:prstGeom>
          <a:noFill/>
          <a:ln w="25400" cap="flat" cmpd="sng" algn="ctr">
            <a:solidFill>
              <a:schemeClr val="tx1"/>
            </a:solidFill>
            <a:prstDash val="dash"/>
            <a:round/>
            <a:headEnd type="oval" w="med" len="med"/>
            <a:tailEnd type="oval" w="med" len="med"/>
          </a:ln>
          <a:effectLst/>
        </p:spPr>
      </p:cxnSp>
      <p:cxnSp>
        <p:nvCxnSpPr>
          <p:cNvPr id="9" name="Straight Connector 9"/>
          <p:cNvCxnSpPr>
            <a:cxnSpLocks noChangeShapeType="1"/>
          </p:cNvCxnSpPr>
          <p:nvPr userDrawn="1"/>
        </p:nvCxnSpPr>
        <p:spPr bwMode="auto">
          <a:xfrm>
            <a:off x="9658714" y="7009765"/>
            <a:ext cx="78105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cxnSp>
        <p:nvCxnSpPr>
          <p:cNvPr id="10" name="Straight Connector 9"/>
          <p:cNvCxnSpPr/>
          <p:nvPr userDrawn="1"/>
        </p:nvCxnSpPr>
        <p:spPr bwMode="auto">
          <a:xfrm>
            <a:off x="18745200" y="6431836"/>
            <a:ext cx="0" cy="23316644"/>
          </a:xfrm>
          <a:prstGeom prst="line">
            <a:avLst/>
          </a:prstGeom>
          <a:noFill/>
          <a:ln w="25400" cap="flat" cmpd="sng" algn="ctr">
            <a:solidFill>
              <a:schemeClr val="tx1"/>
            </a:solidFill>
            <a:prstDash val="dash"/>
            <a:round/>
            <a:headEnd type="oval" w="med" len="med"/>
            <a:tailEnd type="oval" w="med" len="med"/>
          </a:ln>
          <a:effectLst/>
        </p:spPr>
      </p:cxnSp>
      <p:cxnSp>
        <p:nvCxnSpPr>
          <p:cNvPr id="11" name="Straight Connector 10"/>
          <p:cNvCxnSpPr/>
          <p:nvPr userDrawn="1"/>
        </p:nvCxnSpPr>
        <p:spPr bwMode="auto">
          <a:xfrm>
            <a:off x="27826369" y="6431836"/>
            <a:ext cx="0" cy="23316644"/>
          </a:xfrm>
          <a:prstGeom prst="line">
            <a:avLst/>
          </a:prstGeom>
          <a:noFill/>
          <a:ln w="25400" cap="flat" cmpd="sng" algn="ctr">
            <a:solidFill>
              <a:schemeClr val="tx1"/>
            </a:solidFill>
            <a:prstDash val="dash"/>
            <a:round/>
            <a:headEnd type="oval" w="med" len="med"/>
            <a:tailEnd type="oval" w="med" len="med"/>
          </a:ln>
          <a:effectLst/>
        </p:spPr>
      </p:cxnSp>
      <p:sp>
        <p:nvSpPr>
          <p:cNvPr id="12" name="Content Placeholder 9"/>
          <p:cNvSpPr>
            <a:spLocks noGrp="1"/>
          </p:cNvSpPr>
          <p:nvPr>
            <p:ph sz="quarter" idx="10"/>
          </p:nvPr>
        </p:nvSpPr>
        <p:spPr>
          <a:xfrm>
            <a:off x="781050" y="6644640"/>
            <a:ext cx="8369168" cy="14874240"/>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2"/>
          <p:cNvSpPr>
            <a:spLocks noGrp="1"/>
          </p:cNvSpPr>
          <p:nvPr>
            <p:ph type="pic" sz="quarter" idx="16"/>
          </p:nvPr>
        </p:nvSpPr>
        <p:spPr>
          <a:xfrm>
            <a:off x="781050" y="22113240"/>
            <a:ext cx="8369168" cy="7452360"/>
          </a:xfrm>
          <a:prstGeom prst="rect">
            <a:avLst/>
          </a:prstGeom>
          <a:solidFill>
            <a:schemeClr val="bg2">
              <a:lumMod val="85000"/>
            </a:schemeClr>
          </a:solidFill>
        </p:spPr>
        <p:txBody>
          <a:bodyPr>
            <a:normAutofit/>
          </a:bodyPr>
          <a:lstStyle>
            <a:lvl1pPr marL="0" indent="0" algn="ctr">
              <a:buNone/>
              <a:defRPr/>
            </a:lvl1pPr>
          </a:lstStyle>
          <a:p>
            <a:pPr marL="0" indent="0" algn="ctr">
              <a:buNone/>
            </a:pPr>
            <a:endParaRPr lang="en-US" dirty="0"/>
          </a:p>
        </p:txBody>
      </p:sp>
      <p:sp>
        <p:nvSpPr>
          <p:cNvPr id="14" name="Picture Placeholder 2"/>
          <p:cNvSpPr>
            <a:spLocks noGrp="1"/>
          </p:cNvSpPr>
          <p:nvPr>
            <p:ph type="pic" sz="quarter" idx="17"/>
          </p:nvPr>
        </p:nvSpPr>
        <p:spPr>
          <a:xfrm>
            <a:off x="28227617" y="17186910"/>
            <a:ext cx="8369168" cy="7452360"/>
          </a:xfrm>
          <a:prstGeom prst="rect">
            <a:avLst/>
          </a:prstGeom>
          <a:solidFill>
            <a:schemeClr val="bg2">
              <a:lumMod val="85000"/>
            </a:schemeClr>
          </a:solidFill>
        </p:spPr>
        <p:txBody>
          <a:bodyPr/>
          <a:lstStyle>
            <a:lvl1pPr marL="0" indent="0" algn="ctr">
              <a:buNone/>
              <a:defRPr/>
            </a:lvl1pPr>
          </a:lstStyle>
          <a:p>
            <a:pPr marL="0" indent="0" algn="ctr">
              <a:buNone/>
            </a:pPr>
            <a:endParaRPr lang="en-US" dirty="0"/>
          </a:p>
        </p:txBody>
      </p:sp>
      <p:sp>
        <p:nvSpPr>
          <p:cNvPr id="15" name="Content Placeholder 9"/>
          <p:cNvSpPr>
            <a:spLocks noGrp="1"/>
          </p:cNvSpPr>
          <p:nvPr>
            <p:ph sz="quarter" idx="18"/>
          </p:nvPr>
        </p:nvSpPr>
        <p:spPr>
          <a:xfrm>
            <a:off x="9971946" y="6644640"/>
            <a:ext cx="8369168" cy="22920960"/>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9"/>
          <p:cNvSpPr>
            <a:spLocks noGrp="1"/>
          </p:cNvSpPr>
          <p:nvPr>
            <p:ph sz="quarter" idx="19"/>
          </p:nvPr>
        </p:nvSpPr>
        <p:spPr>
          <a:xfrm>
            <a:off x="19232880" y="6705600"/>
            <a:ext cx="8070528" cy="6644640"/>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9"/>
          <p:cNvSpPr>
            <a:spLocks noGrp="1"/>
          </p:cNvSpPr>
          <p:nvPr>
            <p:ph sz="quarter" idx="20"/>
          </p:nvPr>
        </p:nvSpPr>
        <p:spPr>
          <a:xfrm>
            <a:off x="28227617" y="6705600"/>
            <a:ext cx="8369168" cy="9936480"/>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9"/>
          <p:cNvSpPr>
            <a:spLocks noGrp="1"/>
          </p:cNvSpPr>
          <p:nvPr>
            <p:ph sz="quarter" idx="21"/>
          </p:nvPr>
        </p:nvSpPr>
        <p:spPr>
          <a:xfrm>
            <a:off x="28227617" y="25130234"/>
            <a:ext cx="8369168" cy="4252487"/>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hart Placeholder 23"/>
          <p:cNvSpPr>
            <a:spLocks noGrp="1"/>
          </p:cNvSpPr>
          <p:nvPr>
            <p:ph type="chart" sz="quarter" idx="22"/>
          </p:nvPr>
        </p:nvSpPr>
        <p:spPr>
          <a:xfrm>
            <a:off x="19230299" y="14194528"/>
            <a:ext cx="8075577" cy="6942137"/>
          </a:xfrm>
          <a:prstGeom prst="rect">
            <a:avLst/>
          </a:prstGeom>
        </p:spPr>
        <p:txBody>
          <a:bodyPr/>
          <a:lstStyle/>
          <a:p>
            <a:endParaRPr lang="en-US" dirty="0"/>
          </a:p>
        </p:txBody>
      </p:sp>
      <p:sp>
        <p:nvSpPr>
          <p:cNvPr id="20" name="Content Placeholder 9"/>
          <p:cNvSpPr>
            <a:spLocks noGrp="1"/>
          </p:cNvSpPr>
          <p:nvPr>
            <p:ph sz="quarter" idx="23"/>
          </p:nvPr>
        </p:nvSpPr>
        <p:spPr>
          <a:xfrm>
            <a:off x="19230300" y="21847581"/>
            <a:ext cx="8044046" cy="7596100"/>
          </a:xfrm>
          <a:prstGeom prst="rect">
            <a:avLst/>
          </a:prstGeom>
        </p:spPr>
        <p:txBody>
          <a:bodyPr/>
          <a:lstStyle>
            <a:lvl1pPr>
              <a:lnSpc>
                <a:spcPts val="3929"/>
              </a:lnSpc>
              <a:spcBef>
                <a:spcPts val="0"/>
              </a:spcBef>
              <a:defRPr sz="2392" baseline="0">
                <a:solidFill>
                  <a:schemeClr val="bg1">
                    <a:lumMod val="50000"/>
                  </a:schemeClr>
                </a:solidFill>
                <a:latin typeface="Arial" charset="0"/>
              </a:defRPr>
            </a:lvl1pPr>
            <a:lvl2pPr>
              <a:lnSpc>
                <a:spcPts val="3929"/>
              </a:lnSpc>
              <a:spcBef>
                <a:spcPts val="0"/>
              </a:spcBef>
              <a:defRPr sz="2392" baseline="0">
                <a:solidFill>
                  <a:schemeClr val="bg1">
                    <a:lumMod val="50000"/>
                  </a:schemeClr>
                </a:solidFill>
                <a:latin typeface="Arial" charset="0"/>
              </a:defRPr>
            </a:lvl2pPr>
            <a:lvl3pPr>
              <a:lnSpc>
                <a:spcPts val="3929"/>
              </a:lnSpc>
              <a:spcBef>
                <a:spcPts val="0"/>
              </a:spcBef>
              <a:defRPr sz="2392" baseline="0">
                <a:solidFill>
                  <a:schemeClr val="bg1">
                    <a:lumMod val="50000"/>
                  </a:schemeClr>
                </a:solidFill>
                <a:latin typeface="Arial" charset="0"/>
              </a:defRPr>
            </a:lvl3pPr>
            <a:lvl4pPr>
              <a:lnSpc>
                <a:spcPts val="3929"/>
              </a:lnSpc>
              <a:spcBef>
                <a:spcPts val="0"/>
              </a:spcBef>
              <a:defRPr sz="2392" baseline="0">
                <a:solidFill>
                  <a:schemeClr val="bg1">
                    <a:lumMod val="50000"/>
                  </a:schemeClr>
                </a:solidFill>
                <a:latin typeface="Arial" charset="0"/>
              </a:defRPr>
            </a:lvl4pPr>
            <a:lvl5pPr marL="1952701" indent="-390540">
              <a:lnSpc>
                <a:spcPts val="3929"/>
              </a:lnSpc>
              <a:spcBef>
                <a:spcPts val="0"/>
              </a:spcBef>
              <a:buClr>
                <a:srgbClr val="245EAC"/>
              </a:buClr>
              <a:buFont typeface="Arial" charset="0"/>
              <a:buChar char="•"/>
              <a:defRPr sz="2392"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7378594"/>
      </p:ext>
    </p:extLst>
  </p:cSld>
  <p:clrMapOvr>
    <a:masterClrMapping/>
  </p:clrMapOvr>
  <p:extLst>
    <p:ext uri="{DCECCB84-F9BA-43D5-87BE-67443E8EF086}">
      <p15:sldGuideLst xmlns:p15="http://schemas.microsoft.com/office/powerpoint/2012/main">
        <p15:guide id="1" orient="horz" pos="2020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36"/>
          <p:cNvSpPr>
            <a:spLocks noChangeArrowheads="1"/>
          </p:cNvSpPr>
          <p:nvPr userDrawn="1"/>
        </p:nvSpPr>
        <p:spPr bwMode="auto">
          <a:xfrm>
            <a:off x="0" y="0"/>
            <a:ext cx="37490400" cy="5486400"/>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7" name="Rectangle 6"/>
          <p:cNvSpPr/>
          <p:nvPr userDrawn="1"/>
        </p:nvSpPr>
        <p:spPr>
          <a:xfrm>
            <a:off x="0" y="5257801"/>
            <a:ext cx="37490400" cy="2651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rotWithShape="1">
          <a:blip r:embed="rId3">
            <a:alphaModFix amt="41000"/>
            <a:extLst>
              <a:ext uri="{28A0092B-C50C-407E-A947-70E740481C1C}">
                <a14:useLocalDpi xmlns:a14="http://schemas.microsoft.com/office/drawing/2010/main" val="0"/>
              </a:ext>
            </a:extLst>
          </a:blip>
          <a:srcRect t="4395" b="40121"/>
          <a:stretch/>
        </p:blipFill>
        <p:spPr>
          <a:xfrm>
            <a:off x="26229444" y="0"/>
            <a:ext cx="9341680" cy="5256959"/>
          </a:xfrm>
          <a:prstGeom prst="rect">
            <a:avLst/>
          </a:prstGeom>
        </p:spPr>
      </p:pic>
      <p:sp>
        <p:nvSpPr>
          <p:cNvPr id="10" name="Rectangle 36"/>
          <p:cNvSpPr>
            <a:spLocks noChangeArrowheads="1"/>
          </p:cNvSpPr>
          <p:nvPr userDrawn="1"/>
        </p:nvSpPr>
        <p:spPr bwMode="auto">
          <a:xfrm>
            <a:off x="0" y="30409662"/>
            <a:ext cx="37490400" cy="2508738"/>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4733" y="31154745"/>
            <a:ext cx="13595412" cy="1008282"/>
          </a:xfrm>
          <a:prstGeom prst="rect">
            <a:avLst/>
          </a:prstGeom>
        </p:spPr>
      </p:pic>
      <p:cxnSp>
        <p:nvCxnSpPr>
          <p:cNvPr id="12" name="Straight Connector 11"/>
          <p:cNvCxnSpPr/>
          <p:nvPr userDrawn="1"/>
        </p:nvCxnSpPr>
        <p:spPr>
          <a:xfrm>
            <a:off x="26943203" y="30837463"/>
            <a:ext cx="0" cy="1588169"/>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781080" rtl="0" eaLnBrk="1" latinLnBrk="0" hangingPunct="1">
        <a:lnSpc>
          <a:spcPct val="90000"/>
        </a:lnSpc>
        <a:spcBef>
          <a:spcPct val="0"/>
        </a:spcBef>
        <a:buNone/>
        <a:defRPr sz="3758" kern="1200">
          <a:solidFill>
            <a:schemeClr val="tx1"/>
          </a:solidFill>
          <a:latin typeface="+mj-lt"/>
          <a:ea typeface="+mj-ea"/>
          <a:cs typeface="+mj-cs"/>
        </a:defRPr>
      </a:lvl1pPr>
    </p:titleStyle>
    <p:bodyStyle>
      <a:lvl1pPr marL="195270" indent="-195270" algn="l" defTabSz="781080" rtl="0" eaLnBrk="1" latinLnBrk="0" hangingPunct="1">
        <a:lnSpc>
          <a:spcPct val="90000"/>
        </a:lnSpc>
        <a:spcBef>
          <a:spcPts val="854"/>
        </a:spcBef>
        <a:buFont typeface="Arial"/>
        <a:buChar char="•"/>
        <a:defRPr sz="2392" kern="1200">
          <a:solidFill>
            <a:schemeClr val="tx1"/>
          </a:solidFill>
          <a:latin typeface="+mn-lt"/>
          <a:ea typeface="+mn-ea"/>
          <a:cs typeface="+mn-cs"/>
        </a:defRPr>
      </a:lvl1pPr>
      <a:lvl2pPr marL="585810" indent="-195270" algn="l" defTabSz="781080" rtl="0" eaLnBrk="1" latinLnBrk="0" hangingPunct="1">
        <a:lnSpc>
          <a:spcPct val="90000"/>
        </a:lnSpc>
        <a:spcBef>
          <a:spcPts val="427"/>
        </a:spcBef>
        <a:buFont typeface="Arial"/>
        <a:buChar char="•"/>
        <a:defRPr sz="2050" kern="1200">
          <a:solidFill>
            <a:schemeClr val="tx1"/>
          </a:solidFill>
          <a:latin typeface="+mn-lt"/>
          <a:ea typeface="+mn-ea"/>
          <a:cs typeface="+mn-cs"/>
        </a:defRPr>
      </a:lvl2pPr>
      <a:lvl3pPr marL="976351" indent="-195270" algn="l" defTabSz="781080" rtl="0" eaLnBrk="1" latinLnBrk="0" hangingPunct="1">
        <a:lnSpc>
          <a:spcPct val="90000"/>
        </a:lnSpc>
        <a:spcBef>
          <a:spcPts val="427"/>
        </a:spcBef>
        <a:buFont typeface="Arial"/>
        <a:buChar char="•"/>
        <a:defRPr sz="1708" kern="1200">
          <a:solidFill>
            <a:schemeClr val="tx1"/>
          </a:solidFill>
          <a:latin typeface="+mn-lt"/>
          <a:ea typeface="+mn-ea"/>
          <a:cs typeface="+mn-cs"/>
        </a:defRPr>
      </a:lvl3pPr>
      <a:lvl4pPr marL="1366891"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4pPr>
      <a:lvl5pPr marL="1757431"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5pPr>
      <a:lvl6pPr marL="2147971"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6pPr>
      <a:lvl7pPr marL="2538512"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7pPr>
      <a:lvl8pPr marL="2929052"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8pPr>
      <a:lvl9pPr marL="3319592" indent="-195270" algn="l" defTabSz="781080" rtl="0" eaLnBrk="1" latinLnBrk="0" hangingPunct="1">
        <a:lnSpc>
          <a:spcPct val="90000"/>
        </a:lnSpc>
        <a:spcBef>
          <a:spcPts val="427"/>
        </a:spcBef>
        <a:buFont typeface="Arial"/>
        <a:buChar char="•"/>
        <a:defRPr sz="1538" kern="1200">
          <a:solidFill>
            <a:schemeClr val="tx1"/>
          </a:solidFill>
          <a:latin typeface="+mn-lt"/>
          <a:ea typeface="+mn-ea"/>
          <a:cs typeface="+mn-cs"/>
        </a:defRPr>
      </a:lvl9pPr>
    </p:bodyStyle>
    <p:otherStyle>
      <a:defPPr>
        <a:defRPr lang="en-US"/>
      </a:defPPr>
      <a:lvl1pPr marL="0" algn="l" defTabSz="781080" rtl="0" eaLnBrk="1" latinLnBrk="0" hangingPunct="1">
        <a:defRPr sz="1538" kern="1200">
          <a:solidFill>
            <a:schemeClr val="tx1"/>
          </a:solidFill>
          <a:latin typeface="+mn-lt"/>
          <a:ea typeface="+mn-ea"/>
          <a:cs typeface="+mn-cs"/>
        </a:defRPr>
      </a:lvl1pPr>
      <a:lvl2pPr marL="390540" algn="l" defTabSz="781080" rtl="0" eaLnBrk="1" latinLnBrk="0" hangingPunct="1">
        <a:defRPr sz="1538" kern="1200">
          <a:solidFill>
            <a:schemeClr val="tx1"/>
          </a:solidFill>
          <a:latin typeface="+mn-lt"/>
          <a:ea typeface="+mn-ea"/>
          <a:cs typeface="+mn-cs"/>
        </a:defRPr>
      </a:lvl2pPr>
      <a:lvl3pPr marL="781080" algn="l" defTabSz="781080" rtl="0" eaLnBrk="1" latinLnBrk="0" hangingPunct="1">
        <a:defRPr sz="1538" kern="1200">
          <a:solidFill>
            <a:schemeClr val="tx1"/>
          </a:solidFill>
          <a:latin typeface="+mn-lt"/>
          <a:ea typeface="+mn-ea"/>
          <a:cs typeface="+mn-cs"/>
        </a:defRPr>
      </a:lvl3pPr>
      <a:lvl4pPr marL="1171621" algn="l" defTabSz="781080" rtl="0" eaLnBrk="1" latinLnBrk="0" hangingPunct="1">
        <a:defRPr sz="1538" kern="1200">
          <a:solidFill>
            <a:schemeClr val="tx1"/>
          </a:solidFill>
          <a:latin typeface="+mn-lt"/>
          <a:ea typeface="+mn-ea"/>
          <a:cs typeface="+mn-cs"/>
        </a:defRPr>
      </a:lvl4pPr>
      <a:lvl5pPr marL="1562161" algn="l" defTabSz="781080" rtl="0" eaLnBrk="1" latinLnBrk="0" hangingPunct="1">
        <a:defRPr sz="1538" kern="1200">
          <a:solidFill>
            <a:schemeClr val="tx1"/>
          </a:solidFill>
          <a:latin typeface="+mn-lt"/>
          <a:ea typeface="+mn-ea"/>
          <a:cs typeface="+mn-cs"/>
        </a:defRPr>
      </a:lvl5pPr>
      <a:lvl6pPr marL="1952701" algn="l" defTabSz="781080" rtl="0" eaLnBrk="1" latinLnBrk="0" hangingPunct="1">
        <a:defRPr sz="1538" kern="1200">
          <a:solidFill>
            <a:schemeClr val="tx1"/>
          </a:solidFill>
          <a:latin typeface="+mn-lt"/>
          <a:ea typeface="+mn-ea"/>
          <a:cs typeface="+mn-cs"/>
        </a:defRPr>
      </a:lvl6pPr>
      <a:lvl7pPr marL="2343241" algn="l" defTabSz="781080" rtl="0" eaLnBrk="1" latinLnBrk="0" hangingPunct="1">
        <a:defRPr sz="1538" kern="1200">
          <a:solidFill>
            <a:schemeClr val="tx1"/>
          </a:solidFill>
          <a:latin typeface="+mn-lt"/>
          <a:ea typeface="+mn-ea"/>
          <a:cs typeface="+mn-cs"/>
        </a:defRPr>
      </a:lvl7pPr>
      <a:lvl8pPr marL="2733782" algn="l" defTabSz="781080" rtl="0" eaLnBrk="1" latinLnBrk="0" hangingPunct="1">
        <a:defRPr sz="1538" kern="1200">
          <a:solidFill>
            <a:schemeClr val="tx1"/>
          </a:solidFill>
          <a:latin typeface="+mn-lt"/>
          <a:ea typeface="+mn-ea"/>
          <a:cs typeface="+mn-cs"/>
        </a:defRPr>
      </a:lvl8pPr>
      <a:lvl9pPr marL="3124322" algn="l" defTabSz="781080" rtl="0" eaLnBrk="1" latinLnBrk="0" hangingPunct="1">
        <a:defRPr sz="15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i.org/10.24432/C5XW20" TargetMode="Externa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Box 99"/>
          <p:cNvSpPr txBox="1"/>
          <p:nvPr/>
        </p:nvSpPr>
        <p:spPr>
          <a:xfrm>
            <a:off x="19283972" y="14968755"/>
            <a:ext cx="8047259" cy="14748525"/>
          </a:xfrm>
          <a:prstGeom prst="rect">
            <a:avLst/>
          </a:prstGeom>
          <a:solidFill>
            <a:schemeClr val="bg1">
              <a:alpha val="63000"/>
            </a:schemeClr>
          </a:solidFill>
          <a:effectLst/>
        </p:spPr>
        <p:txBody>
          <a:bodyPr wrap="square">
            <a:spAutoFit/>
          </a:bodyPr>
          <a:lstStyle/>
          <a:p>
            <a:pPr algn="just">
              <a:lnSpc>
                <a:spcPts val="4600"/>
              </a:lnSpc>
              <a:spcAft>
                <a:spcPts val="1800"/>
              </a:spcAft>
              <a:defRPr/>
            </a:pPr>
            <a:r>
              <a:rPr lang="en-US" sz="4800" b="1" dirty="0">
                <a:solidFill>
                  <a:srgbClr val="005BBB"/>
                </a:solidFill>
                <a:latin typeface="+mj-lt"/>
              </a:rPr>
              <a:t>Results</a:t>
            </a:r>
          </a:p>
          <a:p>
            <a:pPr algn="just">
              <a:lnSpc>
                <a:spcPts val="4600"/>
              </a:lnSpc>
              <a:spcBef>
                <a:spcPts val="0"/>
              </a:spcBef>
              <a:defRPr/>
            </a:pPr>
            <a:r>
              <a:rPr lang="en-US" sz="2800" b="1" dirty="0">
                <a:solidFill>
                  <a:schemeClr val="tx2"/>
                </a:solidFill>
                <a:latin typeface="Arial" panose="020B0604020202020204" pitchFamily="34" charset="0"/>
                <a:cs typeface="Arial" panose="020B0604020202020204" pitchFamily="34" charset="0"/>
              </a:rPr>
              <a:t>MODEL ACCURACY</a:t>
            </a:r>
          </a:p>
          <a:p>
            <a:pPr algn="just">
              <a:lnSpc>
                <a:spcPts val="4600"/>
              </a:lnSpc>
              <a:spcBef>
                <a:spcPts val="0"/>
              </a:spcBef>
              <a:spcAft>
                <a:spcPts val="1800"/>
              </a:spcAft>
              <a:defRPr/>
            </a:pPr>
            <a:r>
              <a:rPr lang="en-US" sz="2800" dirty="0">
                <a:latin typeface="Arial" panose="020B0604020202020204" pitchFamily="34" charset="0"/>
                <a:cs typeface="Arial" panose="020B0604020202020204" pitchFamily="34" charset="0"/>
              </a:rPr>
              <a:t>The Gradient Boosting Classifier achieved an accuracy of </a:t>
            </a:r>
            <a:r>
              <a:rPr lang="en-US" sz="2800" b="1" dirty="0">
                <a:latin typeface="Arial" panose="020B0604020202020204" pitchFamily="34" charset="0"/>
                <a:cs typeface="Arial" panose="020B0604020202020204" pitchFamily="34" charset="0"/>
              </a:rPr>
              <a:t>87.07%</a:t>
            </a:r>
            <a:r>
              <a:rPr lang="en-US" sz="2800" dirty="0">
                <a:latin typeface="Arial" panose="020B0604020202020204" pitchFamily="34" charset="0"/>
                <a:cs typeface="Arial" panose="020B0604020202020204" pitchFamily="34" charset="0"/>
              </a:rPr>
              <a:t> on the test dataset, indicating a reliable performance in predicting income based on demographic features.</a:t>
            </a:r>
          </a:p>
          <a:p>
            <a:pPr algn="just">
              <a:lnSpc>
                <a:spcPts val="4600"/>
              </a:lnSpc>
              <a:spcBef>
                <a:spcPts val="0"/>
              </a:spcBef>
              <a:defRPr/>
            </a:pPr>
            <a:r>
              <a:rPr lang="en-US" sz="2800" b="1" dirty="0">
                <a:solidFill>
                  <a:schemeClr val="tx2"/>
                </a:solidFill>
                <a:latin typeface="Arial" panose="020B0604020202020204" pitchFamily="34" charset="0"/>
                <a:cs typeface="Arial" panose="020B0604020202020204" pitchFamily="34" charset="0"/>
              </a:rPr>
              <a:t>INDIVIDUALS EARNING &gt;50K</a:t>
            </a:r>
          </a:p>
          <a:p>
            <a:pPr algn="just">
              <a:lnSpc>
                <a:spcPts val="4600"/>
              </a:lnSpc>
              <a:spcBef>
                <a:spcPts val="0"/>
              </a:spcBef>
              <a:spcAft>
                <a:spcPts val="1800"/>
              </a:spcAft>
              <a:defRPr/>
            </a:pPr>
            <a:r>
              <a:rPr lang="en-US" sz="2800" dirty="0">
                <a:latin typeface="Arial" panose="020B0604020202020204" pitchFamily="34" charset="0"/>
                <a:cs typeface="Arial" panose="020B0604020202020204" pitchFamily="34" charset="0"/>
              </a:rPr>
              <a:t>The model predicted that </a:t>
            </a:r>
            <a:r>
              <a:rPr lang="en-US" sz="2800" b="1" dirty="0">
                <a:latin typeface="Arial" panose="020B0604020202020204" pitchFamily="34" charset="0"/>
                <a:cs typeface="Arial" panose="020B0604020202020204" pitchFamily="34" charset="0"/>
              </a:rPr>
              <a:t>3,107</a:t>
            </a:r>
            <a:r>
              <a:rPr lang="en-US" sz="2800" dirty="0">
                <a:latin typeface="Arial" panose="020B0604020202020204" pitchFamily="34" charset="0"/>
                <a:cs typeface="Arial" panose="020B0604020202020204" pitchFamily="34" charset="0"/>
              </a:rPr>
              <a:t> individuals in the test dataset earn more than USD 50,000 per year. A subset of these individuals is presented in a table to illustrate the typical demographic characteristics associated with higher income.</a:t>
            </a:r>
          </a:p>
          <a:p>
            <a:pPr algn="just">
              <a:lnSpc>
                <a:spcPts val="4600"/>
              </a:lnSpc>
              <a:spcBef>
                <a:spcPts val="0"/>
              </a:spcBef>
              <a:defRPr/>
            </a:pPr>
            <a:r>
              <a:rPr lang="en-US" sz="2800" b="1" i="0" u="none" strike="noStrike" dirty="0">
                <a:solidFill>
                  <a:schemeClr val="tx2"/>
                </a:solidFill>
                <a:effectLst/>
                <a:latin typeface="Arial" panose="020B0604020202020204" pitchFamily="34" charset="0"/>
                <a:cs typeface="Arial" panose="020B0604020202020204" pitchFamily="34" charset="0"/>
              </a:rPr>
              <a:t>INCOME DISPARITIES</a:t>
            </a:r>
            <a:endParaRPr lang="en-US" sz="2800" b="1" dirty="0">
              <a:solidFill>
                <a:schemeClr val="tx2"/>
              </a:solidFill>
              <a:latin typeface="Arial" panose="020B0604020202020204" pitchFamily="34" charset="0"/>
              <a:cs typeface="Arial" panose="020B0604020202020204" pitchFamily="34" charset="0"/>
            </a:endParaRPr>
          </a:p>
          <a:p>
            <a:pPr algn="just">
              <a:lnSpc>
                <a:spcPts val="4600"/>
              </a:lnSpc>
              <a:spcBef>
                <a:spcPts val="0"/>
              </a:spcBef>
              <a:spcAft>
                <a:spcPts val="1800"/>
              </a:spcAft>
              <a:defRPr/>
            </a:pPr>
            <a:r>
              <a:rPr lang="en-US" sz="2800" dirty="0">
                <a:latin typeface="Arial" panose="020B0604020202020204" pitchFamily="34" charset="0"/>
                <a:cs typeface="Arial" panose="020B0604020202020204" pitchFamily="34" charset="0"/>
              </a:rPr>
              <a:t>The high accuracy demonstrates the model's effectiveness in income classification, confirming that demographic factors like education, occupation, and marital status are significant predictors of income.</a:t>
            </a:r>
          </a:p>
          <a:p>
            <a:pPr algn="just">
              <a:lnSpc>
                <a:spcPts val="4600"/>
              </a:lnSpc>
              <a:spcBef>
                <a:spcPts val="0"/>
              </a:spcBef>
              <a:defRPr/>
            </a:pPr>
            <a:r>
              <a:rPr lang="en-US" sz="2800" b="1" i="0" u="none" strike="noStrike" dirty="0">
                <a:solidFill>
                  <a:schemeClr val="tx2"/>
                </a:solidFill>
                <a:effectLst/>
                <a:latin typeface="Arial" panose="020B0604020202020204" pitchFamily="34" charset="0"/>
                <a:cs typeface="Arial" panose="020B0604020202020204" pitchFamily="34" charset="0"/>
              </a:rPr>
              <a:t>FEATURE IMPORTANCE</a:t>
            </a:r>
          </a:p>
          <a:p>
            <a:pPr algn="just">
              <a:lnSpc>
                <a:spcPts val="4600"/>
              </a:lnSpc>
              <a:spcBef>
                <a:spcPts val="0"/>
              </a:spcBef>
              <a:spcAft>
                <a:spcPts val="1800"/>
              </a:spcAft>
              <a:defRPr/>
            </a:pPr>
            <a:r>
              <a:rPr lang="en-US" sz="2800" b="0" i="0" u="none" strike="noStrike" dirty="0">
                <a:effectLst/>
                <a:latin typeface="Arial" panose="020B0604020202020204" pitchFamily="34" charset="0"/>
                <a:cs typeface="Arial" panose="020B0604020202020204" pitchFamily="34" charset="0"/>
              </a:rPr>
              <a:t>The model identified age, education level, and occupation as the most influential features in predicting income, underscoring their importance in economic outcomes.</a:t>
            </a:r>
            <a:endParaRPr lang="en-US" sz="2800" dirty="0">
              <a:latin typeface="Arial" panose="020B0604020202020204" pitchFamily="34" charset="0"/>
              <a:ea typeface="Arial" charset="0"/>
              <a:cs typeface="Arial" panose="020B0604020202020204" pitchFamily="34" charset="0"/>
            </a:endParaRPr>
          </a:p>
        </p:txBody>
      </p:sp>
      <p:sp>
        <p:nvSpPr>
          <p:cNvPr id="4" name="Rectangle 5"/>
          <p:cNvSpPr>
            <a:spLocks noChangeArrowheads="1"/>
          </p:cNvSpPr>
          <p:nvPr/>
        </p:nvSpPr>
        <p:spPr bwMode="auto">
          <a:xfrm>
            <a:off x="886613" y="1114726"/>
            <a:ext cx="26885088" cy="3187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7937" tIns="38962" rIns="77937" bIns="38962">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Bef>
                <a:spcPts val="600"/>
              </a:spcBef>
              <a:defRPr/>
            </a:pPr>
            <a:r>
              <a:rPr lang="en-US" sz="6000" b="1" i="0" u="none" strike="noStrike" dirty="0">
                <a:solidFill>
                  <a:schemeClr val="bg1"/>
                </a:solidFill>
                <a:effectLst/>
                <a:latin typeface="Arial" panose="020B0604020202020204" pitchFamily="34" charset="0"/>
                <a:cs typeface="Arial" panose="020B0604020202020204" pitchFamily="34" charset="0"/>
              </a:rPr>
              <a:t>PREDICTIVE MODELING FOR INCOME CLASSIFICATION USING THE ADULT CENSUS DATASET </a:t>
            </a:r>
          </a:p>
          <a:p>
            <a:pPr>
              <a:spcBef>
                <a:spcPts val="600"/>
              </a:spcBef>
              <a:defRPr/>
            </a:pPr>
            <a:r>
              <a:rPr lang="en-US" sz="4000" u="none" strike="noStrike" dirty="0">
                <a:solidFill>
                  <a:schemeClr val="bg1"/>
                </a:solidFill>
                <a:effectLst/>
                <a:latin typeface="+mn-lt"/>
                <a:cs typeface="Arial" panose="020B0604020202020204" pitchFamily="34" charset="0"/>
              </a:rPr>
              <a:t>CSE 574: Machine Learning Project - Identifying High Earners in Census Data</a:t>
            </a:r>
          </a:p>
          <a:p>
            <a:pPr>
              <a:spcBef>
                <a:spcPts val="600"/>
              </a:spcBef>
              <a:defRPr/>
            </a:pPr>
            <a:r>
              <a:rPr lang="en-US" altLang="en-US" sz="3200" dirty="0">
                <a:solidFill>
                  <a:srgbClr val="FFFFFF"/>
                </a:solidFill>
                <a:latin typeface="+mn-lt"/>
                <a:ea typeface="Arial" charset="0"/>
              </a:rPr>
              <a:t>Bhavika Sood</a:t>
            </a:r>
          </a:p>
        </p:txBody>
      </p:sp>
      <p:sp>
        <p:nvSpPr>
          <p:cNvPr id="5" name="TextBox 1"/>
          <p:cNvSpPr txBox="1">
            <a:spLocks noChangeArrowheads="1"/>
          </p:cNvSpPr>
          <p:nvPr/>
        </p:nvSpPr>
        <p:spPr bwMode="auto">
          <a:xfrm>
            <a:off x="781050" y="7003709"/>
            <a:ext cx="8396288" cy="47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endParaRPr lang="en-US" altLang="en-US" sz="2477" dirty="0">
              <a:latin typeface="Arial" charset="0"/>
              <a:ea typeface="Arial" charset="0"/>
            </a:endParaRPr>
          </a:p>
        </p:txBody>
      </p:sp>
      <p:sp>
        <p:nvSpPr>
          <p:cNvPr id="14" name="Freeform 13"/>
          <p:cNvSpPr/>
          <p:nvPr/>
        </p:nvSpPr>
        <p:spPr>
          <a:xfrm>
            <a:off x="15082952" y="15705536"/>
            <a:ext cx="212890" cy="980380"/>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6200" dirty="0"/>
          </a:p>
        </p:txBody>
      </p:sp>
      <p:sp>
        <p:nvSpPr>
          <p:cNvPr id="15" name="Freeform 14"/>
          <p:cNvSpPr/>
          <p:nvPr/>
        </p:nvSpPr>
        <p:spPr>
          <a:xfrm rot="10800000">
            <a:off x="17068121" y="15720451"/>
            <a:ext cx="212890" cy="980381"/>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6200" dirty="0"/>
          </a:p>
        </p:txBody>
      </p:sp>
      <p:sp>
        <p:nvSpPr>
          <p:cNvPr id="16" name="TextBox 64"/>
          <p:cNvSpPr txBox="1">
            <a:spLocks noChangeArrowheads="1"/>
          </p:cNvSpPr>
          <p:nvPr/>
        </p:nvSpPr>
        <p:spPr bwMode="auto">
          <a:xfrm>
            <a:off x="15301266" y="15782826"/>
            <a:ext cx="2237383" cy="80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1538" dirty="0">
                <a:solidFill>
                  <a:schemeClr val="bg1"/>
                </a:solidFill>
                <a:latin typeface="Arial" charset="0"/>
                <a:ea typeface="Arial" charset="0"/>
              </a:rPr>
              <a:t>Figure A: neque dignissim, and in aliquet nisl et umis.</a:t>
            </a:r>
          </a:p>
        </p:txBody>
      </p:sp>
      <p:cxnSp>
        <p:nvCxnSpPr>
          <p:cNvPr id="31" name="Straight Connector 30"/>
          <p:cNvCxnSpPr/>
          <p:nvPr/>
        </p:nvCxnSpPr>
        <p:spPr bwMode="auto">
          <a:xfrm>
            <a:off x="808170" y="16020257"/>
            <a:ext cx="8357235" cy="0"/>
          </a:xfrm>
          <a:prstGeom prst="line">
            <a:avLst/>
          </a:prstGeom>
          <a:noFill/>
          <a:ln w="25400" cap="flat" cmpd="sng" algn="ctr">
            <a:solidFill>
              <a:schemeClr val="tx1"/>
            </a:solidFill>
            <a:prstDash val="dash"/>
            <a:round/>
            <a:headEnd type="none" w="med" len="med"/>
            <a:tailEnd type="none" w="med" len="med"/>
          </a:ln>
          <a:effectLst/>
        </p:spPr>
      </p:cxnSp>
      <p:cxnSp>
        <p:nvCxnSpPr>
          <p:cNvPr id="32" name="Straight Connector 31"/>
          <p:cNvCxnSpPr/>
          <p:nvPr/>
        </p:nvCxnSpPr>
        <p:spPr bwMode="auto">
          <a:xfrm>
            <a:off x="9958388" y="18240889"/>
            <a:ext cx="8357235" cy="0"/>
          </a:xfrm>
          <a:prstGeom prst="line">
            <a:avLst/>
          </a:prstGeom>
          <a:noFill/>
          <a:ln w="25400" cap="flat" cmpd="sng" algn="ctr">
            <a:solidFill>
              <a:schemeClr val="tx1"/>
            </a:solidFill>
            <a:prstDash val="dash"/>
            <a:round/>
            <a:headEnd type="none" w="med" len="med"/>
            <a:tailEnd type="none" w="med" len="med"/>
          </a:ln>
          <a:effectLst/>
        </p:spPr>
      </p:cxnSp>
      <p:cxnSp>
        <p:nvCxnSpPr>
          <p:cNvPr id="34" name="Straight Connector 33"/>
          <p:cNvCxnSpPr/>
          <p:nvPr/>
        </p:nvCxnSpPr>
        <p:spPr bwMode="auto">
          <a:xfrm>
            <a:off x="19169389" y="14494216"/>
            <a:ext cx="8262611" cy="0"/>
          </a:xfrm>
          <a:prstGeom prst="line">
            <a:avLst/>
          </a:prstGeom>
          <a:noFill/>
          <a:ln w="25400" cap="flat" cmpd="sng" algn="ctr">
            <a:solidFill>
              <a:schemeClr val="tx1"/>
            </a:solidFill>
            <a:prstDash val="dash"/>
            <a:round/>
            <a:headEnd type="none" w="med" len="med"/>
            <a:tailEnd type="none" w="med" len="med"/>
          </a:ln>
          <a:effectLst/>
        </p:spPr>
      </p:cxnSp>
      <p:sp>
        <p:nvSpPr>
          <p:cNvPr id="36" name="TextBox 35"/>
          <p:cNvSpPr txBox="1"/>
          <p:nvPr/>
        </p:nvSpPr>
        <p:spPr>
          <a:xfrm>
            <a:off x="28229805" y="15749513"/>
            <a:ext cx="8363744" cy="7797969"/>
          </a:xfrm>
          <a:prstGeom prst="rect">
            <a:avLst/>
          </a:prstGeom>
          <a:noFill/>
        </p:spPr>
        <p:txBody>
          <a:bodyPr wrap="square">
            <a:spAutoFit/>
          </a:bodyPr>
          <a:lstStyle/>
          <a:p>
            <a:pPr>
              <a:lnSpc>
                <a:spcPts val="4620"/>
              </a:lnSpc>
              <a:spcAft>
                <a:spcPts val="1800"/>
              </a:spcAft>
              <a:defRPr/>
            </a:pPr>
            <a:r>
              <a:rPr lang="en-US" sz="4800" b="1" dirty="0">
                <a:solidFill>
                  <a:srgbClr val="005BBB"/>
                </a:solidFill>
                <a:latin typeface="+mj-lt"/>
              </a:rPr>
              <a:t>Future Work</a:t>
            </a:r>
          </a:p>
          <a:p>
            <a:pPr marL="457200" indent="-457200" algn="just">
              <a:lnSpc>
                <a:spcPts val="4620"/>
              </a:lnSpc>
              <a:spcAft>
                <a:spcPts val="1800"/>
              </a:spcAft>
              <a:buFont typeface="Arial" panose="020B0604020202020204" pitchFamily="34" charset="0"/>
              <a:buChar char="•"/>
              <a:defRPr/>
            </a:pPr>
            <a:r>
              <a:rPr lang="en-US" sz="2800" b="1" dirty="0">
                <a:latin typeface="Arial" panose="020B0604020202020204" pitchFamily="34" charset="0"/>
                <a:cs typeface="Arial" panose="020B0604020202020204" pitchFamily="34" charset="0"/>
              </a:rPr>
              <a:t>Feature Engineering:</a:t>
            </a:r>
            <a:r>
              <a:rPr lang="en-US" sz="2800" dirty="0">
                <a:latin typeface="Arial" panose="020B0604020202020204" pitchFamily="34" charset="0"/>
                <a:cs typeface="Arial" panose="020B0604020202020204" pitchFamily="34" charset="0"/>
              </a:rPr>
              <a:t> Investigating new features, such as interaction terms between variables, could improve model performance.</a:t>
            </a:r>
          </a:p>
          <a:p>
            <a:pPr marL="457200" indent="-457200" algn="just">
              <a:lnSpc>
                <a:spcPts val="4620"/>
              </a:lnSpc>
              <a:spcAft>
                <a:spcPts val="1800"/>
              </a:spcAft>
              <a:buFont typeface="Arial" panose="020B0604020202020204" pitchFamily="34" charset="0"/>
              <a:buChar char="•"/>
              <a:defRPr/>
            </a:pPr>
            <a:r>
              <a:rPr lang="en-US" sz="2800" b="1" dirty="0">
                <a:latin typeface="Arial" panose="020B0604020202020204" pitchFamily="34" charset="0"/>
                <a:cs typeface="Arial" panose="020B0604020202020204" pitchFamily="34" charset="0"/>
              </a:rPr>
              <a:t>Model Optimization:</a:t>
            </a:r>
            <a:r>
              <a:rPr lang="en-US" sz="2800" dirty="0">
                <a:latin typeface="Arial" panose="020B0604020202020204" pitchFamily="34" charset="0"/>
                <a:cs typeface="Arial" panose="020B0604020202020204" pitchFamily="34" charset="0"/>
              </a:rPr>
              <a:t> Exploring other machine learning algorithms (e.g., Random Forest, Support Vector Machine) and hyperparameter tuning to enhance the model's predictive power.</a:t>
            </a:r>
          </a:p>
          <a:p>
            <a:pPr marL="457200" indent="-457200" algn="just">
              <a:lnSpc>
                <a:spcPts val="4620"/>
              </a:lnSpc>
              <a:spcAft>
                <a:spcPts val="1800"/>
              </a:spcAft>
              <a:buFont typeface="Arial" panose="020B0604020202020204" pitchFamily="34" charset="0"/>
              <a:buChar char="•"/>
              <a:defRPr/>
            </a:pPr>
            <a:r>
              <a:rPr lang="en-US" sz="2800" b="1" dirty="0">
                <a:latin typeface="Arial" panose="020B0604020202020204" pitchFamily="34" charset="0"/>
                <a:cs typeface="Arial" panose="020B0604020202020204" pitchFamily="34" charset="0"/>
              </a:rPr>
              <a:t>Addressing Bias:</a:t>
            </a:r>
            <a:r>
              <a:rPr lang="en-US" sz="2800" dirty="0">
                <a:latin typeface="Arial" panose="020B0604020202020204" pitchFamily="34" charset="0"/>
                <a:cs typeface="Arial" panose="020B0604020202020204" pitchFamily="34" charset="0"/>
              </a:rPr>
              <a:t> Conducting a deeper analysis of the identified gender and racial disparities in income to address potential biases in the dataset.</a:t>
            </a:r>
            <a:endParaRPr lang="en-US" sz="2800" b="1" dirty="0">
              <a:solidFill>
                <a:srgbClr val="005BBB"/>
              </a:solidFill>
              <a:latin typeface="Arial" panose="020B0604020202020204" pitchFamily="34" charset="0"/>
              <a:cs typeface="Arial" panose="020B0604020202020204" pitchFamily="34" charset="0"/>
            </a:endParaRPr>
          </a:p>
        </p:txBody>
      </p:sp>
      <p:cxnSp>
        <p:nvCxnSpPr>
          <p:cNvPr id="38" name="Straight Connector 37"/>
          <p:cNvCxnSpPr/>
          <p:nvPr/>
        </p:nvCxnSpPr>
        <p:spPr bwMode="auto">
          <a:xfrm>
            <a:off x="28313063" y="23796145"/>
            <a:ext cx="8099651" cy="0"/>
          </a:xfrm>
          <a:prstGeom prst="line">
            <a:avLst/>
          </a:prstGeom>
          <a:noFill/>
          <a:ln w="25400" cap="flat" cmpd="sng" algn="ctr">
            <a:solidFill>
              <a:schemeClr val="tx1"/>
            </a:solidFill>
            <a:prstDash val="dash"/>
            <a:round/>
            <a:headEnd type="none" w="med" len="med"/>
            <a:tailEnd type="none" w="med" len="med"/>
          </a:ln>
          <a:effectLst/>
        </p:spPr>
      </p:cxnSp>
      <p:cxnSp>
        <p:nvCxnSpPr>
          <p:cNvPr id="41" name="Straight Connector 40"/>
          <p:cNvCxnSpPr/>
          <p:nvPr/>
        </p:nvCxnSpPr>
        <p:spPr bwMode="auto">
          <a:xfrm>
            <a:off x="28352839" y="15275695"/>
            <a:ext cx="8092532" cy="0"/>
          </a:xfrm>
          <a:prstGeom prst="line">
            <a:avLst/>
          </a:prstGeom>
          <a:noFill/>
          <a:ln w="25400" cap="flat" cmpd="sng" algn="ctr">
            <a:solidFill>
              <a:schemeClr val="tx1"/>
            </a:solidFill>
            <a:prstDash val="dash"/>
            <a:round/>
            <a:headEnd type="none" w="med" len="med"/>
            <a:tailEnd type="none" w="med" len="med"/>
          </a:ln>
          <a:effectLst/>
        </p:spPr>
      </p:cxnSp>
      <p:sp>
        <p:nvSpPr>
          <p:cNvPr id="91" name="Rectangle 90"/>
          <p:cNvSpPr/>
          <p:nvPr/>
        </p:nvSpPr>
        <p:spPr>
          <a:xfrm>
            <a:off x="27269917" y="30873290"/>
            <a:ext cx="9780371" cy="1496100"/>
          </a:xfrm>
          <a:prstGeom prst="rect">
            <a:avLst/>
          </a:prstGeom>
        </p:spPr>
        <p:txBody>
          <a:bodyPr wrap="square">
            <a:noAutofit/>
          </a:bodyPr>
          <a:lstStyle/>
          <a:p>
            <a:pPr>
              <a:defRPr/>
            </a:pPr>
            <a:r>
              <a:rPr lang="en-US" sz="2800" b="0" i="0" dirty="0">
                <a:solidFill>
                  <a:schemeClr val="bg1"/>
                </a:solidFill>
                <a:effectLst/>
              </a:rPr>
              <a:t>School of Engineering and Applied Sciences</a:t>
            </a:r>
            <a:br>
              <a:rPr lang="en-US" altLang="en-US" sz="2800" dirty="0">
                <a:solidFill>
                  <a:schemeClr val="bg1"/>
                </a:solidFill>
                <a:ea typeface="Arial" charset="0"/>
              </a:rPr>
            </a:br>
            <a:r>
              <a:rPr lang="en-US" altLang="en-US" sz="2800" dirty="0">
                <a:solidFill>
                  <a:schemeClr val="bg1"/>
                </a:solidFill>
                <a:ea typeface="Arial" charset="0"/>
              </a:rPr>
              <a:t>University at Buffalo</a:t>
            </a:r>
          </a:p>
          <a:p>
            <a:pPr>
              <a:defRPr/>
            </a:pPr>
            <a:r>
              <a:rPr lang="en-US" sz="3400" b="1" dirty="0">
                <a:solidFill>
                  <a:schemeClr val="bg1"/>
                </a:solidFill>
              </a:rPr>
              <a:t>buffalo.edu</a:t>
            </a:r>
          </a:p>
          <a:p>
            <a:pPr>
              <a:spcAft>
                <a:spcPts val="80"/>
              </a:spcAft>
              <a:defRPr/>
            </a:pPr>
            <a:endParaRPr lang="en-US" altLang="en-US" sz="2800" dirty="0">
              <a:solidFill>
                <a:schemeClr val="bg1"/>
              </a:solidFill>
              <a:ea typeface="Arial" charset="0"/>
            </a:endParaRPr>
          </a:p>
        </p:txBody>
      </p:sp>
      <p:sp>
        <p:nvSpPr>
          <p:cNvPr id="92" name="TextBox 3"/>
          <p:cNvSpPr txBox="1">
            <a:spLocks noChangeArrowheads="1"/>
          </p:cNvSpPr>
          <p:nvPr/>
        </p:nvSpPr>
        <p:spPr bwMode="auto">
          <a:xfrm>
            <a:off x="802746" y="6932975"/>
            <a:ext cx="8264538" cy="8439105"/>
          </a:xfrm>
          <a:prstGeom prst="rect">
            <a:avLst/>
          </a:prstGeom>
          <a:solidFill>
            <a:schemeClr val="bg1">
              <a:alpha val="63000"/>
            </a:schemeClr>
          </a:solid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600"/>
              </a:lnSpc>
              <a:spcAft>
                <a:spcPts val="1200"/>
              </a:spcAft>
            </a:pPr>
            <a:r>
              <a:rPr lang="en-US" sz="4800" b="1" dirty="0">
                <a:solidFill>
                  <a:srgbClr val="005BBB"/>
                </a:solidFill>
                <a:latin typeface="+mj-lt"/>
              </a:rPr>
              <a:t>Introduction</a:t>
            </a:r>
          </a:p>
          <a:p>
            <a:pPr algn="just">
              <a:lnSpc>
                <a:spcPts val="4600"/>
              </a:lnSpc>
              <a:spcBef>
                <a:spcPts val="0"/>
              </a:spcBef>
              <a:spcAft>
                <a:spcPts val="1800"/>
              </a:spcAft>
            </a:pPr>
            <a:r>
              <a:rPr lang="en-US" sz="2800" b="0" i="0" u="none" strike="noStrike" dirty="0">
                <a:effectLst/>
                <a:latin typeface="Arial" panose="020B0604020202020204" pitchFamily="34" charset="0"/>
                <a:cs typeface="Arial" panose="020B0604020202020204" pitchFamily="34" charset="0"/>
              </a:rPr>
              <a:t>Income classification is an essential task in socio-economic research, often used for market segmentation, policy-making, and financial planning. This study aims to predict whether an individual earns more than USD 50,000 per year using the Adult Census Income dataset. The dataset consists of various demographic attributes, including age, work class, education, marital status, occupation, race, gender, and native country. By employing data preprocessing and machine learning techniques, this project explores the relationship between these attributes and income, ultimately building a predictive model.</a:t>
            </a:r>
            <a:endParaRPr lang="en-US" altLang="en-US" sz="4000" dirty="0">
              <a:latin typeface="Arial" panose="020B0604020202020204" pitchFamily="34" charset="0"/>
              <a:ea typeface="Arial" charset="0"/>
              <a:cs typeface="Arial" panose="020B0604020202020204" pitchFamily="34" charset="0"/>
            </a:endParaRPr>
          </a:p>
        </p:txBody>
      </p:sp>
      <p:sp>
        <p:nvSpPr>
          <p:cNvPr id="93" name="TextBox 92"/>
          <p:cNvSpPr txBox="1"/>
          <p:nvPr/>
        </p:nvSpPr>
        <p:spPr>
          <a:xfrm>
            <a:off x="802744" y="16730456"/>
            <a:ext cx="8264539" cy="12850569"/>
          </a:xfrm>
          <a:prstGeom prst="rect">
            <a:avLst/>
          </a:prstGeom>
          <a:solidFill>
            <a:schemeClr val="bg1">
              <a:alpha val="63000"/>
            </a:schemeClr>
          </a:solidFill>
          <a:effectLst/>
        </p:spPr>
        <p:txBody>
          <a:bodyPr wrap="square">
            <a:spAutoFit/>
          </a:bodyPr>
          <a:lstStyle/>
          <a:p>
            <a:pPr>
              <a:lnSpc>
                <a:spcPts val="4560"/>
              </a:lnSpc>
              <a:spcAft>
                <a:spcPts val="1800"/>
              </a:spcAft>
              <a:defRPr/>
            </a:pPr>
            <a:r>
              <a:rPr lang="en-US" sz="4800" b="1" dirty="0">
                <a:solidFill>
                  <a:srgbClr val="005BBB"/>
                </a:solidFill>
                <a:latin typeface="+mj-lt"/>
              </a:rPr>
              <a:t>Methods</a:t>
            </a:r>
          </a:p>
          <a:p>
            <a:pPr algn="just">
              <a:lnSpc>
                <a:spcPts val="4560"/>
              </a:lnSpc>
            </a:pPr>
            <a:r>
              <a:rPr lang="en-US" sz="2800" b="1" i="0" u="none" strike="noStrike" dirty="0">
                <a:solidFill>
                  <a:schemeClr val="tx2"/>
                </a:solidFill>
                <a:effectLst/>
                <a:latin typeface="Arial" panose="020B0604020202020204" pitchFamily="34" charset="0"/>
                <a:cs typeface="Arial" panose="020B0604020202020204" pitchFamily="34" charset="0"/>
              </a:rPr>
              <a:t>DATA CLEANING</a:t>
            </a:r>
          </a:p>
          <a:p>
            <a:pPr algn="just">
              <a:lnSpc>
                <a:spcPts val="4560"/>
              </a:lnSpc>
              <a:spcAft>
                <a:spcPts val="1800"/>
              </a:spcAft>
            </a:pPr>
            <a:r>
              <a:rPr lang="en-US" sz="2800" b="0" i="0" u="none" strike="noStrike" dirty="0">
                <a:effectLst/>
              </a:rPr>
              <a:t>The dataset was first cleaned by removing rows with missing values and standardizing the format of the income column.</a:t>
            </a:r>
          </a:p>
          <a:p>
            <a:pPr algn="just">
              <a:lnSpc>
                <a:spcPts val="4560"/>
              </a:lnSpc>
            </a:pPr>
            <a:r>
              <a:rPr lang="en-US" sz="2800" b="1" i="0" u="none" strike="noStrike" dirty="0">
                <a:solidFill>
                  <a:schemeClr val="tx2"/>
                </a:solidFill>
                <a:effectLst/>
                <a:latin typeface="Arial" panose="020B0604020202020204" pitchFamily="34" charset="0"/>
                <a:cs typeface="Arial" panose="020B0604020202020204" pitchFamily="34" charset="0"/>
              </a:rPr>
              <a:t>DATA TRANSFORMATION</a:t>
            </a:r>
          </a:p>
          <a:p>
            <a:pPr algn="just">
              <a:lnSpc>
                <a:spcPts val="4560"/>
              </a:lnSpc>
              <a:spcAft>
                <a:spcPts val="1800"/>
              </a:spcAft>
            </a:pPr>
            <a:r>
              <a:rPr lang="en-US" sz="2800" b="0" i="0" u="none" strike="noStrike" dirty="0">
                <a:effectLst/>
              </a:rPr>
              <a:t>The target variable (income) was converted into a binary classification, where 1 indicates "&gt;50K" and 0 indicates "&lt;=50K".</a:t>
            </a:r>
          </a:p>
          <a:p>
            <a:pPr algn="just">
              <a:lnSpc>
                <a:spcPts val="4560"/>
              </a:lnSpc>
            </a:pPr>
            <a:r>
              <a:rPr lang="en-US" sz="2800" b="1" i="0" u="none" strike="noStrike" dirty="0">
                <a:solidFill>
                  <a:schemeClr val="tx2"/>
                </a:solidFill>
                <a:effectLst/>
                <a:latin typeface="Arial" panose="020B0604020202020204" pitchFamily="34" charset="0"/>
                <a:cs typeface="Arial" panose="020B0604020202020204" pitchFamily="34" charset="0"/>
              </a:rPr>
              <a:t>FEATURE ENCODING</a:t>
            </a:r>
          </a:p>
          <a:p>
            <a:pPr algn="just">
              <a:lnSpc>
                <a:spcPts val="4560"/>
              </a:lnSpc>
              <a:spcAft>
                <a:spcPts val="1800"/>
              </a:spcAft>
            </a:pPr>
            <a:r>
              <a:rPr lang="en-US" sz="2800" b="0" i="0" u="none" strike="noStrike" dirty="0">
                <a:effectLst/>
              </a:rPr>
              <a:t>Categorical columns were one-hot encoded to make the data suitable for modeling.</a:t>
            </a:r>
          </a:p>
          <a:p>
            <a:pPr algn="just">
              <a:lnSpc>
                <a:spcPts val="4560"/>
              </a:lnSpc>
            </a:pPr>
            <a:r>
              <a:rPr lang="en-US" sz="2800" b="1" i="0" u="none" strike="noStrike" dirty="0">
                <a:solidFill>
                  <a:schemeClr val="tx2"/>
                </a:solidFill>
                <a:effectLst/>
                <a:latin typeface="Arial" panose="020B0604020202020204" pitchFamily="34" charset="0"/>
                <a:cs typeface="Arial" panose="020B0604020202020204" pitchFamily="34" charset="0"/>
              </a:rPr>
              <a:t>EXPLORATORY DATA ANALYSIS</a:t>
            </a:r>
          </a:p>
          <a:p>
            <a:pPr algn="just">
              <a:lnSpc>
                <a:spcPts val="4560"/>
              </a:lnSpc>
              <a:spcAft>
                <a:spcPts val="1800"/>
              </a:spcAft>
            </a:pPr>
            <a:r>
              <a:rPr lang="en-US" sz="2800" b="0" i="0" u="none" strike="noStrike" dirty="0">
                <a:effectLst/>
              </a:rPr>
              <a:t>Plots were created to explore the age distribution and income distribution by gender.</a:t>
            </a:r>
          </a:p>
          <a:p>
            <a:pPr algn="just">
              <a:lnSpc>
                <a:spcPts val="4560"/>
              </a:lnSpc>
            </a:pPr>
            <a:r>
              <a:rPr lang="en-US" sz="2800" b="1" i="0" u="none" strike="noStrike" dirty="0">
                <a:solidFill>
                  <a:schemeClr val="tx2"/>
                </a:solidFill>
                <a:effectLst/>
                <a:latin typeface="Arial" panose="020B0604020202020204" pitchFamily="34" charset="0"/>
                <a:cs typeface="Arial" panose="020B0604020202020204" pitchFamily="34" charset="0"/>
              </a:rPr>
              <a:t>MODEL TRAINING</a:t>
            </a:r>
          </a:p>
          <a:p>
            <a:pPr algn="just">
              <a:lnSpc>
                <a:spcPts val="4560"/>
              </a:lnSpc>
              <a:spcAft>
                <a:spcPts val="1800"/>
              </a:spcAft>
            </a:pPr>
            <a:r>
              <a:rPr lang="en-US" sz="2800" b="0" i="0" u="none" strike="noStrike" dirty="0">
                <a:effectLst/>
              </a:rPr>
              <a:t>A Gradient Boosting Classifier was trained to predict the income level using the preprocessed training dataset.</a:t>
            </a:r>
          </a:p>
        </p:txBody>
      </p:sp>
      <p:sp>
        <p:nvSpPr>
          <p:cNvPr id="98" name="TextBox 97"/>
          <p:cNvSpPr txBox="1"/>
          <p:nvPr/>
        </p:nvSpPr>
        <p:spPr>
          <a:xfrm>
            <a:off x="9965858" y="6932975"/>
            <a:ext cx="8285566" cy="4320029"/>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4800" b="1" dirty="0">
                <a:solidFill>
                  <a:srgbClr val="005BBB"/>
                </a:solidFill>
                <a:latin typeface="+mj-lt"/>
              </a:rPr>
              <a:t>Data Analysis </a:t>
            </a:r>
          </a:p>
          <a:p>
            <a:pPr algn="just">
              <a:lnSpc>
                <a:spcPts val="4600"/>
              </a:lnSpc>
              <a:spcBef>
                <a:spcPts val="0"/>
              </a:spcBef>
              <a:spcAft>
                <a:spcPts val="1800"/>
              </a:spcAft>
              <a:defRPr/>
            </a:pPr>
            <a:r>
              <a:rPr lang="en-US" sz="2800" b="0" i="0" u="none" strike="noStrike" dirty="0">
                <a:effectLst/>
                <a:latin typeface="Arial" panose="020B0604020202020204" pitchFamily="34" charset="0"/>
                <a:cs typeface="Arial" panose="020B0604020202020204" pitchFamily="34" charset="0"/>
              </a:rPr>
              <a:t>The histogram of the </a:t>
            </a:r>
            <a:r>
              <a:rPr lang="en-US" sz="2800" dirty="0">
                <a:latin typeface="Arial" panose="020B0604020202020204" pitchFamily="34" charset="0"/>
                <a:cs typeface="Arial" panose="020B0604020202020204" pitchFamily="34" charset="0"/>
              </a:rPr>
              <a:t>age</a:t>
            </a:r>
            <a:r>
              <a:rPr lang="en-US" sz="2800" b="0" i="0" u="none" strike="noStrike" dirty="0">
                <a:effectLst/>
                <a:latin typeface="Arial" panose="020B0604020202020204" pitchFamily="34" charset="0"/>
                <a:cs typeface="Arial" panose="020B0604020202020204" pitchFamily="34" charset="0"/>
              </a:rPr>
              <a:t> variable revealed that the dataset predominantly consists of working-age adults (20-60 years). The age distribution indicated possible income variations across different age groups, with higher frequencies in the younger working-age population.</a:t>
            </a:r>
            <a:endParaRPr lang="en-US" sz="2800" dirty="0">
              <a:latin typeface="Arial" panose="020B0604020202020204" pitchFamily="34" charset="0"/>
              <a:ea typeface="Arial" charset="0"/>
              <a:cs typeface="Arial" panose="020B0604020202020204" pitchFamily="34" charset="0"/>
            </a:endParaRPr>
          </a:p>
        </p:txBody>
      </p:sp>
      <p:sp>
        <p:nvSpPr>
          <p:cNvPr id="101" name="TextBox 100"/>
          <p:cNvSpPr txBox="1"/>
          <p:nvPr/>
        </p:nvSpPr>
        <p:spPr>
          <a:xfrm>
            <a:off x="28229805" y="6932975"/>
            <a:ext cx="8363744" cy="7859459"/>
          </a:xfrm>
          <a:prstGeom prst="rect">
            <a:avLst/>
          </a:prstGeom>
          <a:solidFill>
            <a:schemeClr val="bg1">
              <a:alpha val="63000"/>
            </a:schemeClr>
          </a:solidFill>
          <a:effectLst/>
        </p:spPr>
        <p:txBody>
          <a:bodyPr wrap="square">
            <a:spAutoFit/>
          </a:bodyPr>
          <a:lstStyle/>
          <a:p>
            <a:pPr>
              <a:lnSpc>
                <a:spcPts val="4600"/>
              </a:lnSpc>
              <a:spcAft>
                <a:spcPts val="1800"/>
              </a:spcAft>
              <a:defRPr/>
            </a:pPr>
            <a:r>
              <a:rPr lang="en-US" sz="4800" b="1" dirty="0">
                <a:solidFill>
                  <a:srgbClr val="005BBB"/>
                </a:solidFill>
                <a:latin typeface="+mj-lt"/>
              </a:rPr>
              <a:t>Conclusion</a:t>
            </a:r>
          </a:p>
          <a:p>
            <a:pPr algn="just">
              <a:lnSpc>
                <a:spcPts val="4600"/>
              </a:lnSpc>
              <a:spcBef>
                <a:spcPts val="0"/>
              </a:spcBef>
              <a:spcAft>
                <a:spcPts val="1800"/>
              </a:spcAft>
              <a:defRPr/>
            </a:pPr>
            <a:r>
              <a:rPr lang="en-US" sz="2800" b="0" i="0" u="none" strike="noStrike" dirty="0">
                <a:effectLst/>
                <a:latin typeface="Arial" panose="020B0604020202020204" pitchFamily="34" charset="0"/>
                <a:cs typeface="Arial" panose="020B0604020202020204" pitchFamily="34" charset="0"/>
              </a:rPr>
              <a:t>The study successfully utilized machine learning techniques to classify individuals into income categories based on demographic data. With an accuracy of over </a:t>
            </a:r>
            <a:r>
              <a:rPr lang="en-US" sz="2800" b="1" i="0" u="none" strike="noStrike" dirty="0">
                <a:effectLst/>
                <a:latin typeface="Arial" panose="020B0604020202020204" pitchFamily="34" charset="0"/>
                <a:cs typeface="Arial" panose="020B0604020202020204" pitchFamily="34" charset="0"/>
              </a:rPr>
              <a:t>87.07%</a:t>
            </a:r>
            <a:r>
              <a:rPr lang="en-US" sz="2800" b="0" i="0" u="none" strike="noStrike" dirty="0">
                <a:effectLst/>
                <a:latin typeface="Arial" panose="020B0604020202020204" pitchFamily="34" charset="0"/>
                <a:cs typeface="Arial" panose="020B0604020202020204" pitchFamily="34" charset="0"/>
              </a:rPr>
              <a:t>, the model proves to be a valuable tool for income prediction and socio-economic analysis. Further research could involve experimenting with different algorithms, incorporating additional features, or addressing class imbalance to improve predictive performance. The findings also highlight the potential for using demographic data in financial forecasting and economic policy development.</a:t>
            </a:r>
            <a:endParaRPr lang="en-US" sz="2800" dirty="0">
              <a:latin typeface="Arial" panose="020B0604020202020204" pitchFamily="34" charset="0"/>
              <a:ea typeface="Arial" charset="0"/>
              <a:cs typeface="Arial" panose="020B0604020202020204" pitchFamily="34" charset="0"/>
            </a:endParaRPr>
          </a:p>
        </p:txBody>
      </p:sp>
      <p:sp>
        <p:nvSpPr>
          <p:cNvPr id="108" name="TextBox 107"/>
          <p:cNvSpPr txBox="1"/>
          <p:nvPr/>
        </p:nvSpPr>
        <p:spPr>
          <a:xfrm>
            <a:off x="28229805" y="24541983"/>
            <a:ext cx="8470886" cy="5554854"/>
          </a:xfrm>
          <a:prstGeom prst="rect">
            <a:avLst/>
          </a:prstGeom>
          <a:solidFill>
            <a:schemeClr val="bg1">
              <a:alpha val="63000"/>
            </a:schemeClr>
          </a:solidFill>
          <a:effectLst/>
        </p:spPr>
        <p:txBody>
          <a:bodyPr wrap="square">
            <a:spAutoFit/>
          </a:bodyPr>
          <a:lstStyle/>
          <a:p>
            <a:pPr algn="just">
              <a:lnSpc>
                <a:spcPts val="3800"/>
              </a:lnSpc>
              <a:spcAft>
                <a:spcPts val="1200"/>
              </a:spcAft>
              <a:buClr>
                <a:schemeClr val="tx2"/>
              </a:buClr>
              <a:defRPr/>
            </a:pPr>
            <a:r>
              <a:rPr lang="en-US" sz="4800" b="1" dirty="0">
                <a:solidFill>
                  <a:srgbClr val="005BBB"/>
                </a:solidFill>
                <a:latin typeface="+mj-lt"/>
              </a:rPr>
              <a:t>References</a:t>
            </a:r>
            <a:endParaRPr lang="en-US" sz="2400" dirty="0">
              <a:latin typeface="Arial" charset="0"/>
              <a:ea typeface="Arial" charset="0"/>
              <a:cs typeface="Arial" charset="0"/>
            </a:endParaRPr>
          </a:p>
          <a:p>
            <a:pPr marL="457200" indent="-457200" algn="just">
              <a:lnSpc>
                <a:spcPts val="3800"/>
              </a:lnSpc>
              <a:buClr>
                <a:schemeClr val="tx2"/>
              </a:buClr>
              <a:buFont typeface="+mj-lt"/>
              <a:buAutoNum type="arabicPeriod"/>
              <a:defRPr/>
            </a:pPr>
            <a:r>
              <a:rPr lang="en-US" sz="2600" b="0" i="0" u="none" strike="noStrike" dirty="0">
                <a:effectLst/>
                <a:latin typeface="Arial" panose="020B0604020202020204" pitchFamily="34" charset="0"/>
                <a:cs typeface="Arial" panose="020B0604020202020204" pitchFamily="34" charset="0"/>
              </a:rPr>
              <a:t>Becker, B. &amp; </a:t>
            </a:r>
            <a:r>
              <a:rPr lang="en-US" sz="2600" b="0" i="0" u="none" strike="noStrike" dirty="0" err="1">
                <a:effectLst/>
                <a:latin typeface="Arial" panose="020B0604020202020204" pitchFamily="34" charset="0"/>
                <a:cs typeface="Arial" panose="020B0604020202020204" pitchFamily="34" charset="0"/>
              </a:rPr>
              <a:t>Kohavi</a:t>
            </a:r>
            <a:r>
              <a:rPr lang="en-US" sz="2600" b="0" i="0" u="none" strike="noStrike" dirty="0">
                <a:effectLst/>
                <a:latin typeface="Arial" panose="020B0604020202020204" pitchFamily="34" charset="0"/>
                <a:cs typeface="Arial" panose="020B0604020202020204" pitchFamily="34" charset="0"/>
              </a:rPr>
              <a:t>, R. (1996). Adult [Dataset]. UCI Machine Learning Repository </a:t>
            </a:r>
            <a:r>
              <a:rPr lang="en-US" sz="2600" b="0" i="0" u="none" strike="noStrike" dirty="0">
                <a:effectLst/>
                <a:latin typeface="Arial" panose="020B0604020202020204" pitchFamily="34" charset="0"/>
                <a:cs typeface="Arial" panose="020B0604020202020204" pitchFamily="34" charset="0"/>
                <a:hlinkClick r:id="rId2"/>
              </a:rPr>
              <a:t>https://</a:t>
            </a:r>
            <a:r>
              <a:rPr lang="en-US" sz="2600" b="0" i="0" u="none" strike="noStrike" dirty="0" err="1">
                <a:effectLst/>
                <a:latin typeface="Arial" panose="020B0604020202020204" pitchFamily="34" charset="0"/>
                <a:cs typeface="Arial" panose="020B0604020202020204" pitchFamily="34" charset="0"/>
                <a:hlinkClick r:id="rId2"/>
              </a:rPr>
              <a:t>doi.org</a:t>
            </a:r>
            <a:r>
              <a:rPr lang="en-US" sz="2600" b="0" i="0" u="none" strike="noStrike" dirty="0">
                <a:effectLst/>
                <a:latin typeface="Arial" panose="020B0604020202020204" pitchFamily="34" charset="0"/>
                <a:cs typeface="Arial" panose="020B0604020202020204" pitchFamily="34" charset="0"/>
                <a:hlinkClick r:id="rId2"/>
              </a:rPr>
              <a:t>/10.24432/C5XW20</a:t>
            </a:r>
            <a:endParaRPr lang="en-US" sz="2600" b="0" i="0" u="none" strike="noStrike" dirty="0">
              <a:effectLst/>
              <a:latin typeface="Arial" panose="020B0604020202020204" pitchFamily="34" charset="0"/>
              <a:cs typeface="Arial" panose="020B0604020202020204" pitchFamily="34" charset="0"/>
            </a:endParaRPr>
          </a:p>
          <a:p>
            <a:pPr marL="457200" indent="-457200" algn="just">
              <a:lnSpc>
                <a:spcPts val="3800"/>
              </a:lnSpc>
              <a:buClr>
                <a:schemeClr val="tx2"/>
              </a:buClr>
              <a:buFont typeface="+mj-lt"/>
              <a:buAutoNum type="arabicPeriod"/>
              <a:defRPr/>
            </a:pPr>
            <a:r>
              <a:rPr lang="en-US" sz="2600" b="0" i="0" u="none" strike="noStrike" dirty="0">
                <a:effectLst/>
                <a:latin typeface="Arial" panose="020B0604020202020204" pitchFamily="34" charset="0"/>
                <a:cs typeface="Arial" panose="020B0604020202020204" pitchFamily="34" charset="0"/>
              </a:rPr>
              <a:t>Pandas: Powerful Python data analysis toolkit.</a:t>
            </a:r>
          </a:p>
          <a:p>
            <a:pPr marL="457200" indent="-457200" algn="just">
              <a:lnSpc>
                <a:spcPts val="3800"/>
              </a:lnSpc>
              <a:buClr>
                <a:schemeClr val="tx2"/>
              </a:buClr>
              <a:buFont typeface="+mj-lt"/>
              <a:buAutoNum type="arabicPeriod"/>
              <a:defRPr/>
            </a:pPr>
            <a:r>
              <a:rPr lang="en-US" sz="2600" b="0" i="0" u="none" strike="noStrike" dirty="0">
                <a:effectLst/>
                <a:latin typeface="Arial" panose="020B0604020202020204" pitchFamily="34" charset="0"/>
                <a:cs typeface="Arial" panose="020B0604020202020204" pitchFamily="34" charset="0"/>
              </a:rPr>
              <a:t>Harris, C. R., et al. (2020). Array programming with NumPy</a:t>
            </a:r>
          </a:p>
          <a:p>
            <a:pPr marL="457200" indent="-457200" algn="just">
              <a:lnSpc>
                <a:spcPts val="3800"/>
              </a:lnSpc>
              <a:buClr>
                <a:schemeClr val="tx2"/>
              </a:buClr>
              <a:buFont typeface="+mj-lt"/>
              <a:buAutoNum type="arabicPeriod"/>
              <a:defRPr/>
            </a:pPr>
            <a:r>
              <a:rPr lang="en-US" sz="2600" b="0" i="0" u="none" strike="noStrike" dirty="0" err="1">
                <a:effectLst/>
                <a:latin typeface="Arial" panose="020B0604020202020204" pitchFamily="34" charset="0"/>
                <a:cs typeface="Arial" panose="020B0604020202020204" pitchFamily="34" charset="0"/>
              </a:rPr>
              <a:t>Pedregosa</a:t>
            </a:r>
            <a:r>
              <a:rPr lang="en-US" sz="2600" b="0" i="0" u="none" strike="noStrike" dirty="0">
                <a:effectLst/>
                <a:latin typeface="Arial" panose="020B0604020202020204" pitchFamily="34" charset="0"/>
                <a:cs typeface="Arial" panose="020B0604020202020204" pitchFamily="34" charset="0"/>
              </a:rPr>
              <a:t>, F., et al. (2011). Scikit-learn: Machine Learning in Python </a:t>
            </a:r>
          </a:p>
          <a:p>
            <a:pPr marL="457200" indent="-457200" algn="just">
              <a:lnSpc>
                <a:spcPts val="3800"/>
              </a:lnSpc>
              <a:buClr>
                <a:schemeClr val="tx2"/>
              </a:buClr>
              <a:buFont typeface="+mj-lt"/>
              <a:buAutoNum type="arabicPeriod"/>
              <a:defRPr/>
            </a:pPr>
            <a:r>
              <a:rPr lang="en-US" sz="2600" b="0" i="0" u="none" strike="noStrike" dirty="0">
                <a:effectLst/>
                <a:latin typeface="Arial" panose="020B0604020202020204" pitchFamily="34" charset="0"/>
                <a:cs typeface="Arial" panose="020B0604020202020204" pitchFamily="34" charset="0"/>
              </a:rPr>
              <a:t>Hunter, J. D. (2007). Matplotlib: A 2D Graphics Environment</a:t>
            </a:r>
            <a:endParaRPr lang="en-US" sz="2600" dirty="0">
              <a:latin typeface="Arial" panose="020B0604020202020204" pitchFamily="34" charset="0"/>
              <a:ea typeface="Arial" charset="0"/>
              <a:cs typeface="Arial" panose="020B0604020202020204" pitchFamily="34" charset="0"/>
            </a:endParaRPr>
          </a:p>
        </p:txBody>
      </p:sp>
      <p:pic>
        <p:nvPicPr>
          <p:cNvPr id="7" name="Picture 6" descr="A graph of age distribution&#10;&#10;Description automatically generated">
            <a:extLst>
              <a:ext uri="{FF2B5EF4-FFF2-40B4-BE49-F238E27FC236}">
                <a16:creationId xmlns:a16="http://schemas.microsoft.com/office/drawing/2014/main" id="{A7A6EDE9-C175-15DF-E0EC-A7E35AF1E33B}"/>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Effect>
                      <a14:brightnessContrast bright="20000" contrast="-40000"/>
                    </a14:imgEffect>
                  </a14:imgLayer>
                </a14:imgProps>
              </a:ext>
            </a:extLst>
          </a:blip>
          <a:stretch>
            <a:fillRect/>
          </a:stretch>
        </p:blipFill>
        <p:spPr>
          <a:xfrm>
            <a:off x="10012350" y="11450271"/>
            <a:ext cx="8333249" cy="6470523"/>
          </a:xfrm>
          <a:prstGeom prst="rect">
            <a:avLst/>
          </a:prstGeom>
        </p:spPr>
      </p:pic>
      <p:sp>
        <p:nvSpPr>
          <p:cNvPr id="8" name="TextBox 7">
            <a:extLst>
              <a:ext uri="{FF2B5EF4-FFF2-40B4-BE49-F238E27FC236}">
                <a16:creationId xmlns:a16="http://schemas.microsoft.com/office/drawing/2014/main" id="{DE2AEC64-94D8-0FD7-84E8-D5CFDA0E638A}"/>
              </a:ext>
            </a:extLst>
          </p:cNvPr>
          <p:cNvSpPr txBox="1"/>
          <p:nvPr/>
        </p:nvSpPr>
        <p:spPr>
          <a:xfrm>
            <a:off x="9994222" y="18673093"/>
            <a:ext cx="8285566" cy="4155881"/>
          </a:xfrm>
          <a:prstGeom prst="rect">
            <a:avLst/>
          </a:prstGeom>
          <a:solidFill>
            <a:schemeClr val="bg1">
              <a:alpha val="63000"/>
            </a:schemeClr>
          </a:solidFill>
          <a:effectLst/>
        </p:spPr>
        <p:txBody>
          <a:bodyPr wrap="square">
            <a:spAutoFit/>
          </a:bodyPr>
          <a:lstStyle/>
          <a:p>
            <a:pPr algn="just">
              <a:lnSpc>
                <a:spcPts val="4600"/>
              </a:lnSpc>
              <a:spcAft>
                <a:spcPts val="1800"/>
              </a:spcAft>
              <a:defRPr/>
            </a:pPr>
            <a:r>
              <a:rPr lang="en-US" sz="2800" b="0" i="0" u="none" strike="noStrike" dirty="0">
                <a:effectLst/>
                <a:latin typeface="Arial" panose="020B0604020202020204" pitchFamily="34" charset="0"/>
                <a:cs typeface="Arial" panose="020B0604020202020204" pitchFamily="34" charset="0"/>
              </a:rPr>
              <a:t>A count plot indicated a significant disparity in income distribution between males and females, suggesting that gender plays a role in income levels. More males were classified as earning "&gt;50K" compared to females, highlighting potential socio-economic factors influencing income disparity.</a:t>
            </a:r>
            <a:endParaRPr lang="en-US" sz="2800" dirty="0">
              <a:latin typeface="Arial" panose="020B0604020202020204" pitchFamily="34" charset="0"/>
              <a:ea typeface="Arial" charset="0"/>
              <a:cs typeface="Arial" panose="020B0604020202020204" pitchFamily="34" charset="0"/>
            </a:endParaRPr>
          </a:p>
        </p:txBody>
      </p:sp>
      <p:pic>
        <p:nvPicPr>
          <p:cNvPr id="19" name="Picture 18" descr="A graph with blue and orange bars&#10;&#10;Description automatically generated">
            <a:extLst>
              <a:ext uri="{FF2B5EF4-FFF2-40B4-BE49-F238E27FC236}">
                <a16:creationId xmlns:a16="http://schemas.microsoft.com/office/drawing/2014/main" id="{FBBE1977-F2B8-A995-3189-C917E216A3EE}"/>
              </a:ext>
            </a:extLst>
          </p:cNvPr>
          <p:cNvPicPr>
            <a:picLocks noChangeAspect="1"/>
          </p:cNvPicPr>
          <p:nvPr/>
        </p:nvPicPr>
        <p:blipFill>
          <a:blip r:embed="rId5"/>
          <a:stretch>
            <a:fillRect/>
          </a:stretch>
        </p:blipFill>
        <p:spPr>
          <a:xfrm>
            <a:off x="9956940" y="23121612"/>
            <a:ext cx="8285566" cy="6334140"/>
          </a:xfrm>
          <a:prstGeom prst="rect">
            <a:avLst/>
          </a:prstGeom>
        </p:spPr>
      </p:pic>
      <p:sp>
        <p:nvSpPr>
          <p:cNvPr id="22" name="TextBox 21">
            <a:extLst>
              <a:ext uri="{FF2B5EF4-FFF2-40B4-BE49-F238E27FC236}">
                <a16:creationId xmlns:a16="http://schemas.microsoft.com/office/drawing/2014/main" id="{677C4A7B-CB21-2295-054B-2CDE750708D2}"/>
              </a:ext>
            </a:extLst>
          </p:cNvPr>
          <p:cNvSpPr txBox="1"/>
          <p:nvPr/>
        </p:nvSpPr>
        <p:spPr>
          <a:xfrm>
            <a:off x="19125729" y="6900318"/>
            <a:ext cx="8363744" cy="7105407"/>
          </a:xfrm>
          <a:prstGeom prst="rect">
            <a:avLst/>
          </a:prstGeom>
          <a:solidFill>
            <a:schemeClr val="bg1">
              <a:alpha val="63000"/>
            </a:schemeClr>
          </a:solidFill>
          <a:effectLst/>
        </p:spPr>
        <p:txBody>
          <a:bodyPr wrap="square">
            <a:spAutoFit/>
          </a:bodyPr>
          <a:lstStyle/>
          <a:p>
            <a:pPr algn="just">
              <a:lnSpc>
                <a:spcPts val="4600"/>
              </a:lnSpc>
              <a:spcAft>
                <a:spcPts val="1800"/>
              </a:spcAft>
              <a:defRPr/>
            </a:pPr>
            <a:r>
              <a:rPr lang="en-US" sz="2800" dirty="0">
                <a:latin typeface="Arial" panose="020B0604020202020204" pitchFamily="34" charset="0"/>
                <a:cs typeface="Arial" panose="020B0604020202020204" pitchFamily="34" charset="0"/>
              </a:rPr>
              <a:t>The dataset includes various occupations, showing that executive, managerial, and professional roles are more likely in the "&gt;50K" income group, while service, manual labor, and clerical jobs fall into the "&lt;=50K" category. Self-employed and government workers also tend to earn more. Higher education, such as a bachelor's degree, strongly correlates with earning "&gt;50K," while lower education levels align with the "&lt;=50K" group. Marital status impacts income, with "Married-civ-spouse" individuals and the "Husband" role often linked to higher earnings, highlighting traditional gender dynamics.</a:t>
            </a:r>
            <a:endParaRPr lang="en-US" sz="2800" dirty="0">
              <a:latin typeface="Arial" panose="020B0604020202020204" pitchFamily="34" charset="0"/>
              <a:ea typeface="Arial" charset="0"/>
              <a:cs typeface="Arial" panose="020B0604020202020204" pitchFamily="34" charset="0"/>
            </a:endParaRPr>
          </a:p>
        </p:txBody>
      </p:sp>
    </p:spTree>
    <p:extLst>
      <p:ext uri="{BB962C8B-B14F-4D97-AF65-F5344CB8AC3E}">
        <p14:creationId xmlns:p14="http://schemas.microsoft.com/office/powerpoint/2010/main" val="109865799"/>
      </p:ext>
    </p:extLst>
  </p:cSld>
  <p:clrMapOvr>
    <a:masterClrMapping/>
  </p:clrMapOvr>
</p:sld>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506</TotalTime>
  <Words>821</Words>
  <Application>Microsoft Macintosh PowerPoint</Application>
  <PresentationFormat>Custom</PresentationFormat>
  <Paragraphs>44</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Research Poster Template</vt:lpstr>
      <vt:lpstr>PowerPoint Presentation</vt:lpstr>
    </vt:vector>
  </TitlesOfParts>
  <Manager/>
  <Company>© University at Buffalo</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Research Poster Template</dc:title>
  <dc:subject/>
  <dc:creator/>
  <cp:keywords/>
  <dc:description/>
  <cp:lastModifiedBy>Bhavika Sood</cp:lastModifiedBy>
  <cp:revision>44</cp:revision>
  <cp:lastPrinted>2018-07-24T20:43:07Z</cp:lastPrinted>
  <dcterms:created xsi:type="dcterms:W3CDTF">2016-09-29T18:43:16Z</dcterms:created>
  <dcterms:modified xsi:type="dcterms:W3CDTF">2024-10-05T04:08:50Z</dcterms:modified>
  <cp:category/>
</cp:coreProperties>
</file>